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Libre Franklin"/>
      <p:regular r:id="rId19"/>
      <p:bold r:id="rId20"/>
      <p:italic r:id="rId21"/>
      <p:boldItalic r:id="rId22"/>
    </p:embeddedFont>
    <p:embeddedFont>
      <p:font typeface="Libre Franklin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149D37-788F-45C3-8410-18FA4F58D06A}">
  <a:tblStyle styleId="{6F149D37-788F-45C3-8410-18FA4F58D06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.fntdata"/><Relationship Id="rId22" Type="http://schemas.openxmlformats.org/officeDocument/2006/relationships/font" Target="fonts/LibreFranklin-boldItalic.fntdata"/><Relationship Id="rId21" Type="http://schemas.openxmlformats.org/officeDocument/2006/relationships/font" Target="fonts/LibreFranklin-italic.fntdata"/><Relationship Id="rId24" Type="http://schemas.openxmlformats.org/officeDocument/2006/relationships/font" Target="fonts/LibreFranklinMedium-bold.fntdata"/><Relationship Id="rId23" Type="http://schemas.openxmlformats.org/officeDocument/2006/relationships/font" Target="fonts/LibreFranklin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ibreFranklinMedium-boldItalic.fntdata"/><Relationship Id="rId25" Type="http://schemas.openxmlformats.org/officeDocument/2006/relationships/font" Target="fonts/LibreFranklin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ibreFranklin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c5640e4a_0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dec5640e4a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ec5640e4a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ec5640e4a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ec5640e4a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dec5640e4a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10732c432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10732c432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c5640e4a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ec5640e4a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c5640e4a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ec5640e4a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ec5640e4a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ec5640e4a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ec5640e4a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ec5640e4a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ec5640e4a_0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ec5640e4a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1 - Dark Blue" showMasterSp="0">
  <p:cSld name="Cover with Image 1 -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12809" y="2814616"/>
            <a:ext cx="3363544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2 - Dark Blue" showMasterSp="0">
  <p:cSld name="Cover with Image 2 -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12809" y="2814616"/>
            <a:ext cx="3363544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8127" y="0"/>
            <a:ext cx="6655873" cy="5143500"/>
          </a:xfrm>
          <a:custGeom>
            <a:rect b="b" l="l" r="r" t="t"/>
            <a:pathLst>
              <a:path extrusionOk="0" h="5143500" w="6655873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 – Bright Blue">
  <p:cSld name="Cover no Image – Bright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2809" y="2814616"/>
            <a:ext cx="4186238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 – Dark Blue">
  <p:cSld name="Cover no Image –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12809" y="2814616"/>
            <a:ext cx="3367605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7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 – Dark Blue">
  <p:cSld name="Cover no Image –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12809" y="2814616"/>
            <a:ext cx="3367605" cy="731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909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Georgia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12809" y="1166332"/>
            <a:ext cx="4504424" cy="194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White">
  <p:cSld name="Divider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907" y="1212980"/>
            <a:ext cx="1762179" cy="190213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1269318" y="2298215"/>
            <a:ext cx="5896591" cy="70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398708" y="1322516"/>
            <a:ext cx="953682" cy="812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bre Franklin"/>
              <a:buNone/>
              <a:defRPr b="1" i="0" sz="4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- Dark Blue">
  <p:cSld name="Title + Text - Dark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None/>
              <a:defRPr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320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Char char="–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eorgia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- White">
  <p:cSld name="Title + Text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+ Image - White">
  <p:cSld name="Title + Content + Image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>
            <p:ph idx="2" type="pic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925" y="858838"/>
            <a:ext cx="3613150" cy="3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Content + Image - White">
  <p:cSld name="1_Title + Content + Image - Whi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415925" y="858838"/>
            <a:ext cx="3613150" cy="3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4571644" y="858839"/>
            <a:ext cx="4021494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statement text">
  <p:cSld name="Large statement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467661" y="827479"/>
            <a:ext cx="8038563" cy="3283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- Limestone">
  <p:cSld name="Title + Text - Limest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15925" y="868149"/>
            <a:ext cx="7104063" cy="3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Content + Image - Limestone">
  <p:cSld name="1_Title + Content + Image - Limest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15925" y="858838"/>
            <a:ext cx="3613150" cy="3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571644" y="858839"/>
            <a:ext cx="4021494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or Diagram - no text">
  <p:cSld name="1_Large Image or Diagram - no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None/>
              <a:defRPr sz="800"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286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0" y="0"/>
            <a:ext cx="9144000" cy="426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or Diagram - with text">
  <p:cSld name="1_Large Image or Diagram -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416217" y="171520"/>
            <a:ext cx="4034485" cy="864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eorgia"/>
              <a:buNone/>
              <a:defRPr sz="800"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286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5202530" y="184421"/>
            <a:ext cx="3437617" cy="1065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61818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None/>
              <a:defRPr sz="1100"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/>
            </a:lvl2pPr>
            <a:lvl3pPr indent="-298450" lvl="2" marL="1371600" algn="l">
              <a:lnSpc>
                <a:spcPct val="161818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•"/>
              <a:defRPr sz="1100">
                <a:latin typeface="Georgia"/>
                <a:ea typeface="Georgia"/>
                <a:cs typeface="Georgia"/>
                <a:sym typeface="Georgia"/>
              </a:defRPr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28600" lvl="4" marL="228600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3" type="body"/>
          </p:nvPr>
        </p:nvSpPr>
        <p:spPr>
          <a:xfrm>
            <a:off x="416218" y="1316038"/>
            <a:ext cx="8224546" cy="294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/>
            </a:lvl1pPr>
            <a:lvl2pPr indent="-228600" lvl="1" marL="9144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/>
            </a:lvl2pPr>
            <a:lvl3pPr indent="-342900" lvl="2" marL="13716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8888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Libre Franklin"/>
              <a:buNone/>
              <a:defRPr b="1" i="0" sz="52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623525"/>
            <a:ext cx="7886700" cy="2253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971800" y="290514"/>
            <a:ext cx="3200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 u="none" cap="none" strike="noStrike">
                <a:solidFill>
                  <a:srgbClr val="140F5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16217" y="1072389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04800" lvl="2" marL="13716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•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04800" lvl="3" marL="18288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–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04800" lvl="4" marL="2286000" marR="0" rtl="0" algn="l">
              <a:lnSpc>
                <a:spcPct val="148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»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joeljorly/llm-evalu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87425" y="762500"/>
            <a:ext cx="4570500" cy="14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Franklin"/>
              <a:buNone/>
            </a:pPr>
            <a:r>
              <a:t/>
            </a:r>
            <a:endParaRPr sz="4400"/>
          </a:p>
          <a:p>
            <a:pPr indent="0" lvl="0" marL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Franklin"/>
              <a:buNone/>
            </a:pPr>
            <a:r>
              <a:rPr lang="en-US" sz="2800"/>
              <a:t>ARTI 6000: Adva</a:t>
            </a:r>
            <a:r>
              <a:rPr lang="en-US" sz="2800"/>
              <a:t>n</a:t>
            </a:r>
            <a:r>
              <a:rPr lang="en-US" sz="2800"/>
              <a:t>ced Topics in Artificial Intelligence &amp; Machine Learning</a:t>
            </a:r>
            <a:endParaRPr sz="2800"/>
          </a:p>
        </p:txBody>
      </p:sp>
      <p:sp>
        <p:nvSpPr>
          <p:cNvPr id="85" name="Google Shape;85;p18"/>
          <p:cNvSpPr/>
          <p:nvPr/>
        </p:nvSpPr>
        <p:spPr>
          <a:xfrm>
            <a:off x="4095750" y="2286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306051" y="34361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{6F149D37-788F-45C3-8410-18FA4F58D06A}</a:tableStyleId>
              </a:tblPr>
              <a:tblGrid>
                <a:gridCol w="6468575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Arial"/>
                        <a:buNone/>
                      </a:pPr>
                      <a:r>
                        <a:t/>
                      </a:r>
                      <a:endParaRPr sz="4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87425" y="3010181"/>
            <a:ext cx="33636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6945"/>
              <a:buNone/>
            </a:pPr>
            <a:r>
              <a:rPr b="1" lang="en-US" sz="2057">
                <a:latin typeface="Libre Franklin"/>
                <a:ea typeface="Libre Franklin"/>
                <a:cs typeface="Libre Franklin"/>
                <a:sym typeface="Libre Franklin"/>
              </a:rPr>
              <a:t>Evaluating Bias, Trustworthiness and Fairness in Open-Source LLMs Context: Users Susceptible to Phishing and Phishing Victims</a:t>
            </a:r>
            <a:endParaRPr b="1" sz="1771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450725" y="3965625"/>
            <a:ext cx="509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Done By:</a:t>
            </a:r>
            <a:endParaRPr i="1">
              <a:solidFill>
                <a:schemeClr val="accent2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accent2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Joel Jorly</a:t>
            </a:r>
            <a:endParaRPr i="1">
              <a:solidFill>
                <a:schemeClr val="accent2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a1959854</a:t>
            </a:r>
            <a:endParaRPr i="1">
              <a:solidFill>
                <a:schemeClr val="accent2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1611450" y="1294875"/>
            <a:ext cx="5921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entire notebook along with all the associated files and the replication readme can be accessed via this link to my Github repository : </a:t>
            </a:r>
            <a:r>
              <a:rPr lang="en-US" sz="15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Github Repo Link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1611450" y="574450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Codebase repository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1611450" y="1294875"/>
            <a:ext cx="59211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1. </a:t>
            </a:r>
            <a:r>
              <a:rPr i="1"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RQ1</a:t>
            </a: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Do open-source LLMs assign phishing vulnerability labels in ways that track demographic characteristics rather than individual risk factors? 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2. </a:t>
            </a:r>
            <a:r>
              <a:rPr i="1"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RQ2</a:t>
            </a: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How stable is that pattern across repeated runs of the same prompt, and does it differ across providers? 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3. </a:t>
            </a:r>
            <a:r>
              <a:rPr i="1"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RQ3</a:t>
            </a: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What do the models' own justifications reveal about which stereotypes are at work, and what can practically be done about them?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1611450" y="574450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Research Questions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780750" y="1316100"/>
            <a:ext cx="59211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5 providers : Groq, HuggingFace, OpenRouter, Cerebras, NVIDIA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3 models per provider = 15 models registered (13 with valid data)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840 persona-level responses collected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Temperature: 0.8 | Prompt 2 repeated 10 times per persona set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Slides 148–152 of Trepa (2026) followed throughout Statistical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Tests:</a:t>
            </a:r>
            <a:endParaRPr b="1" i="1"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Chi-Square :  gender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t-test : age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Fisher's exact : IT domain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Consistency analysis : 10 repeated runs per persona set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/>
              <a:buChar char="●"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Qualitative coding : 25% random sample (59/236), seed 42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937200" y="584075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Methodology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7" name="Google Shape;107;p21" title="Screenshot 2026-04-16 at 12.53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732" y="57793"/>
            <a:ext cx="3120776" cy="487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>
            <a:off x="145050" y="1171625"/>
            <a:ext cx="3813600" cy="3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i="1"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Dataset Overview</a:t>
            </a: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840 Samples, 15 Models, 5 Providers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Overall vulnerability rate: 28.1%   (expected random: 33.3%)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i="1"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Provider rates:</a:t>
            </a:r>
            <a:endParaRPr i="1"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Groq                   32.5%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Cerebras            30.8%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NVIDIA             29.5%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HuggingFace    26.7%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OpenRouter      23.3%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Every provider undershot the 33.3% baseline , rules out chance.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145050" y="537675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Dataset Overview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4" name="Google Shape;114;p22" title="Screenshot 2026-04-16 at 12.58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977" y="0"/>
            <a:ext cx="3022074" cy="2654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 title="Screenshot 2026-04-16 at 12.59.1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650" y="2654750"/>
            <a:ext cx="2981544" cy="248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744550" y="1420100"/>
            <a:ext cx="6392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Chi2 = 66.542   p &lt; 0.0001   df = 2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Non-binary:  61.3%  (49/80)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Female:      32.8%  (105/320)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Male:        18.6%  (82/440)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42-point gap; non-binary identity treated as vulnerability signal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4 of 5 providers at p &lt; 0.0001  |  OpenRouter exception: p = 1.000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715671" y="574450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Gender Bias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2" name="Google Shape;122;p23" title="Screenshot 2026-04-16 at 12.59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74450"/>
            <a:ext cx="3365851" cy="277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/>
        </p:nvSpPr>
        <p:spPr>
          <a:xfrm>
            <a:off x="464150" y="1182625"/>
            <a:ext cx="40161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Age:  t = −3.693, p = 0.0002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Vulnerable: 35.6 yrs  |  Non-vulnerable: 38.8 yrs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Direction contradicts Sarker et al. (2023) , driven by personality traits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145050" y="239075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Age and Domain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5450000" y="1018875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IT Domain: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Overall OR = 0.611, p = 0.019  (protective)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Cerebras OR = 10.636, p &lt; 0.0001  (reversed)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0" name="Google Shape;130;p24" title="Screenshot 2026-04-16 at 1.15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475" y="2273575"/>
            <a:ext cx="6139112" cy="23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1099900" y="944925"/>
            <a:ext cx="40161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Education rates: High School: 44.4% | Undergraduate: 26.4% Postgraduate: 26.1% | No formal: 17.3%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145050" y="239075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Education and Experience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7" name="Google Shape;137;p25" title="Screenshot 2026-04-16 at 12.59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0025" y="2785524"/>
            <a:ext cx="2614549" cy="21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 title="Unknown-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47805"/>
            <a:ext cx="9143999" cy="30394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5295900" y="952575"/>
            <a:ext cx="35784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Experience (Chi2 = 29.753, p &lt; 0.0001): Senior: 15.2% vs Mid-level: 35.2% vs Junior: 32.6%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626075" y="925661"/>
            <a:ext cx="44898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 models at 100% consistency across 10 runs at temperature 0.8: Groq Llama 3.3 70B | HF Qwen2.5 | NV Llama 3.3 70B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Majority of valid models scored above 70%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145050" y="239075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Consistency and Qualitative Analysis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5115875" y="876775"/>
            <a:ext cx="4140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100% consistency at temp 0.8 = fixed demographic decision, not reasoning 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Same stability found in GPT-4 (Wang et al., 2024)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7" name="Google Shape;147;p26" title="Unknown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75" y="1990873"/>
            <a:ext cx="7983083" cy="31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/>
        </p:nvSpPr>
        <p:spPr>
          <a:xfrm>
            <a:off x="963200" y="1054075"/>
            <a:ext cx="7349100" cy="3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DECODINGTRUST connection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Stereotype bias + fairness dimensions both clearly in play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Compared to prior work : </a:t>
            </a:r>
            <a:endParaRPr i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42-point gap exceeds Wang et al. (2024) GPT-4 findings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Cerebras reversal (OR = 10.636) not in phishing literature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Deployment concerns: 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Technical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100% consistent model = demographic lookup table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Ethical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Allocative harm + associative harm (Trepa, 2026) 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Societal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Biased outputs harden into institutional practice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963200" y="497400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Discussion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963200" y="1034812"/>
            <a:ext cx="73491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Incomplete runs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2 models excluded; Gemma2 and Nemotron Super 30 rows each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Qualitative coding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keyword matching crude; manual annotation more reliable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Open-weight vs open-source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no training data disclosure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4.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Single task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results specific to phishing vulnerability labelling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5.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Name field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regex cleaned manually; zero effect on statistical results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Mitigations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Constrain Prompt 1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individual behaviour justification, not group characteristics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Pre-deployment consistency check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: flag models above 70% (Wang et al., 2024)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3. </a:t>
            </a:r>
            <a:r>
              <a:rPr i="1"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Majority agreement across runs 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route inconsistent cases to human review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963200" y="497400"/>
            <a:ext cx="50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Limitations and Mitigations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9"/>
          <p:cNvSpPr txBox="1"/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2509900" y="1891275"/>
            <a:ext cx="5090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accent6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1" sz="4700">
              <a:solidFill>
                <a:schemeClr val="accent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6000750" y="39659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Done By:</a:t>
            </a:r>
            <a:endParaRPr>
              <a:solidFill>
                <a:schemeClr val="accent2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Joel Jorly</a:t>
            </a:r>
            <a:endParaRPr>
              <a:solidFill>
                <a:schemeClr val="accent2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a1959854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 Slides - Dark">
  <a:themeElements>
    <a:clrScheme name="Custom 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U Content Slides – Light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